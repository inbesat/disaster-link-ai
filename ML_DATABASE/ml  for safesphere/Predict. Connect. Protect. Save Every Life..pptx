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Tomorrow"/>
      <p:regular r:id="rId14"/>
      <p:bold r:id="rId15"/>
      <p:italic r:id="rId16"/>
      <p:boldItalic r:id="rId17"/>
    </p:embeddedFont>
    <p:embeddedFont>
      <p:font typeface="Tomorrow SemiBol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omorrow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TomorrowSemi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Tomorrow-bold.fntdata"/><Relationship Id="rId14" Type="http://schemas.openxmlformats.org/officeDocument/2006/relationships/font" Target="fonts/Tomorrow-regular.fntdata"/><Relationship Id="rId17" Type="http://schemas.openxmlformats.org/officeDocument/2006/relationships/font" Target="fonts/Tomorrow-boldItalic.fntdata"/><Relationship Id="rId16" Type="http://schemas.openxmlformats.org/officeDocument/2006/relationships/font" Target="fonts/Tomorrow-italic.fntdata"/><Relationship Id="rId5" Type="http://schemas.openxmlformats.org/officeDocument/2006/relationships/slide" Target="slides/slide1.xml"/><Relationship Id="rId19" Type="http://schemas.openxmlformats.org/officeDocument/2006/relationships/font" Target="fonts/TomorrowSemiBold-bold.fntdata"/><Relationship Id="rId6" Type="http://schemas.openxmlformats.org/officeDocument/2006/relationships/slide" Target="slides/slide2.xml"/><Relationship Id="rId18" Type="http://schemas.openxmlformats.org/officeDocument/2006/relationships/font" Target="fonts/Tomorrow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3429000" cy="514553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3925119" y="443136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750"/>
              <a:buFont typeface="Tomorrow SemiBold"/>
              <a:buNone/>
            </a:pPr>
            <a:r>
              <a:rPr b="0" i="0" lang="en-US" sz="27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DisasterLink AI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925119" y="942826"/>
            <a:ext cx="4722763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AI‑Powered Disaster Intelligence &amp; Last‑Mile Emergency Communication Platform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1598340"/>
            <a:ext cx="4722763" cy="1834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3850"/>
              <a:buFont typeface="Tomorrow SemiBold"/>
              <a:buNone/>
            </a:pPr>
            <a:r>
              <a:rPr b="0" i="0" lang="en-US" sz="38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Predict. Connect. Protect. Save Every Life.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925119" y="3645098"/>
            <a:ext cx="472276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Government‑grade AI platform co‑designed for NDMA, state disaster authorities, NDRF, ISRO, and industry partners. Smart India Hackathon — finalist‑ready.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671864" y="4485010"/>
            <a:ext cx="1610171" cy="215354"/>
          </a:xfrm>
          <a:prstGeom prst="roundRect">
            <a:avLst>
              <a:gd fmla="val 7900" name="adj"/>
            </a:avLst>
          </a:prstGeom>
          <a:solidFill>
            <a:srgbClr val="2727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4756919" y="4527500"/>
            <a:ext cx="1897261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0" i="0" lang="en-US" sz="8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SMART INDIA HACKATHON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352877" y="4485010"/>
            <a:ext cx="1548259" cy="215354"/>
          </a:xfrm>
          <a:prstGeom prst="roundRect">
            <a:avLst>
              <a:gd fmla="val 7900" name="adj"/>
            </a:avLst>
          </a:prstGeom>
          <a:noFill/>
          <a:ln cap="flat" cmpd="sng" w="9525">
            <a:solidFill>
              <a:srgbClr val="E1E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6437933" y="4527500"/>
            <a:ext cx="1835348" cy="130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1E1DF"/>
              </a:buClr>
              <a:buSzPts val="850"/>
              <a:buFont typeface="Tomorrow"/>
              <a:buNone/>
            </a:pPr>
            <a:r>
              <a:rPr b="0" i="0" lang="en-US" sz="850" u="none" cap="none" strike="noStrike">
                <a:solidFill>
                  <a:srgbClr val="E1E1DF"/>
                </a:solidFill>
                <a:latin typeface="Tomorrow"/>
                <a:ea typeface="Tomorrow"/>
                <a:cs typeface="Tomorrow"/>
                <a:sym typeface="Tomorrow"/>
              </a:rPr>
              <a:t>GOVERNMENT‑GRADE AI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3925119" y="505569"/>
            <a:ext cx="4722763" cy="802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500"/>
              <a:buFont typeface="Tomorrow SemiBold"/>
              <a:buNone/>
            </a:pPr>
            <a:r>
              <a:rPr b="0" i="0" lang="en-US" sz="25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Every Second Counts in a Disaster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925119" y="1483072"/>
            <a:ext cx="2303190" cy="1311101"/>
          </a:xfrm>
          <a:prstGeom prst="roundRect">
            <a:avLst>
              <a:gd fmla="val 1470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053557" y="1611511"/>
            <a:ext cx="2046312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50"/>
              <a:buFont typeface="Tomorrow SemiBold"/>
              <a:buNone/>
            </a:pPr>
            <a:r>
              <a:rPr b="0" i="0" lang="en-US" sz="12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Economic Impact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053557" y="1882006"/>
            <a:ext cx="2046312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00"/>
              <a:buFont typeface="Tomorrow"/>
              <a:buNone/>
            </a:pPr>
            <a:r>
              <a:rPr b="0" i="0" lang="en-US" sz="10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Disasters account for roughly </a:t>
            </a:r>
            <a:r>
              <a:rPr b="1" i="0" lang="en-US" sz="10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~2% of India’s GDP</a:t>
            </a:r>
            <a:r>
              <a:rPr b="0" i="0" lang="en-US" sz="10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annually — significant economic and human cost reflected in national reports.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344692" y="1483072"/>
            <a:ext cx="2303190" cy="1311101"/>
          </a:xfrm>
          <a:prstGeom prst="roundRect">
            <a:avLst>
              <a:gd fmla="val 1470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473130" y="1611511"/>
            <a:ext cx="2046312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50"/>
              <a:buFont typeface="Tomorrow SemiBold"/>
              <a:buNone/>
            </a:pPr>
            <a:r>
              <a:rPr b="0" i="0" lang="en-US" sz="12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Exposure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473130" y="1882006"/>
            <a:ext cx="2046312" cy="587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00"/>
              <a:buFont typeface="Tomorrow"/>
              <a:buNone/>
            </a:pPr>
            <a:r>
              <a:rPr b="1" i="0" lang="en-US" sz="10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85% of land</a:t>
            </a:r>
            <a:r>
              <a:rPr b="0" i="0" lang="en-US" sz="10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is vulnerable to one or more natural hazards (flood, cyclone, seismic, drought).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925119" y="2910557"/>
            <a:ext cx="4722763" cy="919237"/>
          </a:xfrm>
          <a:prstGeom prst="roundRect">
            <a:avLst>
              <a:gd fmla="val 2096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4053557" y="3038996"/>
            <a:ext cx="4465886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50"/>
              <a:buFont typeface="Tomorrow SemiBold"/>
              <a:buNone/>
            </a:pPr>
            <a:r>
              <a:rPr b="0" i="0" lang="en-US" sz="12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Primary Hazard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053557" y="3309491"/>
            <a:ext cx="4465886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00"/>
              <a:buFont typeface="Tomorrow"/>
              <a:buNone/>
            </a:pPr>
            <a:r>
              <a:rPr b="1" i="0" lang="en-US" sz="10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Floods ≈ 50%</a:t>
            </a:r>
            <a:r>
              <a:rPr b="0" i="0" lang="en-US" sz="10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of recorded disasters — rapid onset events with localized impacts and severe last‑mile challenges.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925119" y="3960763"/>
            <a:ext cx="4722763" cy="677168"/>
          </a:xfrm>
          <a:prstGeom prst="roundRect">
            <a:avLst>
              <a:gd fmla="val 2846" name="adj"/>
            </a:avLst>
          </a:prstGeom>
          <a:solidFill>
            <a:srgbClr val="424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3557" y="4142184"/>
            <a:ext cx="160586" cy="12843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4342581" y="4109219"/>
            <a:ext cx="4176861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omorrow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Prediction systems exist; failure is often in last‑mile delivery and accessibility.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5715000" y="0"/>
            <a:ext cx="3429000" cy="514553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496119" y="417984"/>
            <a:ext cx="4722763" cy="76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350"/>
              <a:buFont typeface="Tomorrow SemiBold"/>
              <a:buNone/>
            </a:pPr>
            <a:r>
              <a:rPr b="0" i="0" lang="en-US" sz="23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The Real Failure Is Last‑Mile Communication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336402"/>
            <a:ext cx="304577" cy="30457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931515" y="1336402"/>
            <a:ext cx="4287366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50"/>
              <a:buFont typeface="Tomorrow SemiBold"/>
              <a:buNone/>
            </a:pPr>
            <a:r>
              <a:rPr b="0" i="0" lang="en-US" sz="11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Never Receive Alerts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931515" y="1589559"/>
            <a:ext cx="4287366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Network outages, tower damage or absent infrastructure leave populations blind to warnings.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161282"/>
            <a:ext cx="304577" cy="30457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931515" y="2161282"/>
            <a:ext cx="4287366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50"/>
              <a:buFont typeface="Tomorrow SemiBold"/>
              <a:buNone/>
            </a:pPr>
            <a:r>
              <a:rPr b="0" i="0" lang="en-US" sz="11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Alerts Arrive Too Late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31515" y="2414439"/>
            <a:ext cx="4287366" cy="181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Processing delays and manual approvals erode evacuation time windows.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804964"/>
            <a:ext cx="304577" cy="30457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931515" y="2804964"/>
            <a:ext cx="4287366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50"/>
              <a:buFont typeface="Tomorrow SemiBold"/>
              <a:buNone/>
            </a:pPr>
            <a:r>
              <a:rPr b="0" i="0" lang="en-US" sz="11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Incomprehensible Alerts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31515" y="3058120"/>
            <a:ext cx="4287366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Language, format, and technical jargon prevent understanding — especially for vulnerable groups.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629844"/>
            <a:ext cx="304577" cy="30457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/>
          <p:nvPr/>
        </p:nvSpPr>
        <p:spPr>
          <a:xfrm>
            <a:off x="931515" y="3629844"/>
            <a:ext cx="4287366" cy="190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50"/>
              <a:buFont typeface="Tomorrow SemiBold"/>
              <a:buNone/>
            </a:pPr>
            <a:r>
              <a:rPr b="0" i="0" lang="en-US" sz="11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Vulnerable Populations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931515" y="3883000"/>
            <a:ext cx="4287366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Elderly, disabled, remote villagers and feature‑phone users are disproportionately affected.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96119" y="4363120"/>
            <a:ext cx="4722763" cy="36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consequence: forecasts do not translate to timely protective action. DisasterLink AI closes that last‑mile gap.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496119" y="631180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750"/>
              <a:buFont typeface="Tomorrow SemiBold"/>
              <a:buNone/>
            </a:pPr>
            <a:r>
              <a:rPr b="0" i="0" lang="en-US" sz="27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Traditional Systems vs DisasterLink AI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496119" y="1446237"/>
            <a:ext cx="3902943" cy="2293516"/>
          </a:xfrm>
          <a:prstGeom prst="roundRect">
            <a:avLst>
              <a:gd fmla="val 927" name="adj"/>
            </a:avLst>
          </a:prstGeom>
          <a:solidFill>
            <a:srgbClr val="1D1D1B"/>
          </a:solidFill>
          <a:ln cap="flat" cmpd="sng" w="19050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56927" y="1607046"/>
            <a:ext cx="358132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Traditional Systems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56927" y="1970261"/>
            <a:ext cx="3581326" cy="1608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Internet dependent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Manual alerts &amp; approvals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Single‑channel broadcast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Delayed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Disconnected agencies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No predictive automation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749701" y="1446237"/>
            <a:ext cx="3902943" cy="2255416"/>
          </a:xfrm>
          <a:prstGeom prst="roundRect">
            <a:avLst>
              <a:gd fmla="val 943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4891460" y="1587996"/>
            <a:ext cx="361942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DisasterLink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891460" y="1951211"/>
            <a:ext cx="3619426" cy="1608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Offline‑ready, multi‑channel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AI‑driven risk scoring &amp;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Real‑time automated broadcasts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Unified inter‑agency coordination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Volunteer &amp; resource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Pilot‑ready for NDMA/NDRF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96119" y="4058692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Side‑by‑side: DisasterLink AI converts forecasts into comprehensible, timely actions across every connectivity scenario.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8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0" y="0"/>
            <a:ext cx="3429000" cy="514553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3925119" y="577453"/>
            <a:ext cx="4722763" cy="77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400"/>
              <a:buFont typeface="Tomorrow SemiBold"/>
              <a:buNone/>
            </a:pPr>
            <a:r>
              <a:rPr b="0" i="0" lang="en-US" sz="24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DisasterLink AI: A Unified Disaster Intelligence Platform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3925119" y="1515294"/>
            <a:ext cx="4722763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One platform connecting NDMA, SDMAs, NDRF, local administration, hospitals, NGOs, volunteers and citizens — with automated, multi‑channel delivery that persists when infrastructure degrades.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19543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3925119" y="2641178"/>
            <a:ext cx="4722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AI‑Powered Last‑Mile Communication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3925119" y="2900139"/>
            <a:ext cx="4722763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Automatic, pre‑verified broadcasts across FM/TV, SMS, voice, messaging apps, village loudspeakers, satellite and vehicle-mounted sirens.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3489275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3925119" y="3935016"/>
            <a:ext cx="4722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Stakeholder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3925119" y="4193977"/>
            <a:ext cx="4722763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Unified incident view with role‑based access for government, responders and volunteers — one source of truth for action.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496119" y="459581"/>
            <a:ext cx="8151763" cy="25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600"/>
              <a:buFont typeface="Tomorrow SemiBold"/>
              <a:buNone/>
            </a:pPr>
            <a:r>
              <a:rPr b="0" i="0" lang="en-US" sz="16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From Detection to Rescue: The AI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641" y="810369"/>
            <a:ext cx="7890644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/>
          <p:nvPr/>
        </p:nvSpPr>
        <p:spPr>
          <a:xfrm>
            <a:off x="7002209" y="3052510"/>
            <a:ext cx="1190147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 SemiBold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Risk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5502299" y="2937877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 SemiBold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Prediction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4010540" y="2937877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 SemiBold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AI Risk Engine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2518781" y="3052510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 SemiBold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 Ingest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994415" y="3052510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 SemiBold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Detection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96119" y="3824585"/>
            <a:ext cx="8608963" cy="103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600"/>
              <a:buFont typeface="Tomorrow"/>
              <a:buNone/>
            </a:pPr>
            <a:r>
              <a:rPr b="0" i="0" lang="en-US" sz="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The platform orchestrates detection, risk scoring, automated multi‑channel broadcast and coordinated rescue — preserving human oversight at verification checkpoints to meet policy and legal requirements.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96119" y="4028629"/>
            <a:ext cx="3140720" cy="12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800"/>
              <a:buFont typeface="Tomorrow SemiBold"/>
              <a:buNone/>
            </a:pPr>
            <a:r>
              <a:rPr b="0" i="0" lang="en-US" sz="8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Flood Prediction — Inputs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96119" y="4204022"/>
            <a:ext cx="3140720" cy="463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600"/>
              <a:buFont typeface="Tomorrow"/>
              <a:buChar char="•"/>
            </a:pPr>
            <a:r>
              <a:rPr b="0" i="0" lang="en-US" sz="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Historical rainfall &amp; river gauge data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600"/>
              <a:buFont typeface="Tomorrow"/>
              <a:buChar char="•"/>
            </a:pPr>
            <a:r>
              <a:rPr b="0" i="0" lang="en-US" sz="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Real‑time satellite altimetry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600"/>
              <a:buFont typeface="Tomorrow"/>
              <a:buChar char="•"/>
            </a:pPr>
            <a:r>
              <a:rPr b="0" i="0" lang="en-US" sz="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Weather model forecasts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600"/>
              <a:buFont typeface="Tomorrow"/>
              <a:buChar char="•"/>
            </a:pPr>
            <a:r>
              <a:rPr b="0" i="0" lang="en-US" sz="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Local sensor / IoT feeds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3841477" y="4028629"/>
            <a:ext cx="4811092" cy="12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800"/>
              <a:buFont typeface="Tomorrow SemiBold"/>
              <a:buNone/>
            </a:pPr>
            <a:r>
              <a:rPr b="0" i="0" lang="en-US" sz="8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Flood Prediction — Output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3841477" y="4204022"/>
            <a:ext cx="4811092" cy="20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600"/>
              <a:buFont typeface="Tomorrow"/>
              <a:buNone/>
            </a:pPr>
            <a:r>
              <a:rPr b="0" i="0" lang="en-US" sz="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ML model produces district‑level flood probability maps, time‑to‑impact estimates and evacuation priority lists — feeding the AI broadcast engine for immediate last‑mile delivery.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/>
          <p:nvPr/>
        </p:nvSpPr>
        <p:spPr>
          <a:xfrm>
            <a:off x="3925119" y="441275"/>
            <a:ext cx="4722763" cy="858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700"/>
              <a:buFont typeface="Tomorrow SemiBold"/>
              <a:buNone/>
            </a:pPr>
            <a:r>
              <a:rPr b="0" i="0" lang="en-US" sz="27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National Disaster Command Dashboard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3925119" y="1499071"/>
            <a:ext cx="1485602" cy="2299469"/>
          </a:xfrm>
          <a:prstGeom prst="roundRect">
            <a:avLst>
              <a:gd fmla="val 1387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4062413" y="1636365"/>
            <a:ext cx="1211014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Live KPIs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062413" y="1930673"/>
            <a:ext cx="1211014" cy="108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0" i="0" lang="en-US" sz="1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Alerts Sent • Coverage (%) • Estimated Lives Impacted • False Alert Rate (low)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5543699" y="1499071"/>
            <a:ext cx="1485602" cy="2299469"/>
          </a:xfrm>
          <a:prstGeom prst="roundRect">
            <a:avLst>
              <a:gd fmla="val 1387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5680993" y="1636365"/>
            <a:ext cx="1211014" cy="429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Operational Panels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5680993" y="2145209"/>
            <a:ext cx="1211014" cy="1514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0" i="0" lang="en-US" sz="1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Emergency Broadcast Status • Hospital Beds • Shelter Occupancy • Resource Locations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7162279" y="1499071"/>
            <a:ext cx="1485602" cy="2299469"/>
          </a:xfrm>
          <a:prstGeom prst="roundRect">
            <a:avLst>
              <a:gd fmla="val 1387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7299573" y="1636365"/>
            <a:ext cx="1211014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50"/>
              <a:buFont typeface="Tomorrow SemiBold"/>
              <a:buNone/>
            </a:pPr>
            <a:r>
              <a:rPr b="0" i="0" lang="en-US" sz="13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Analytics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7299573" y="1930673"/>
            <a:ext cx="1211014" cy="1730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0" i="0" lang="en-US" sz="1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Heatmaps of high‑risk districts, response time trends, and post‑event recovery metrics for policy planning.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3925119" y="3948187"/>
            <a:ext cx="4722763" cy="753963"/>
          </a:xfrm>
          <a:prstGeom prst="roundRect">
            <a:avLst>
              <a:gd fmla="val 2732" name="adj"/>
            </a:avLst>
          </a:prstGeom>
          <a:solidFill>
            <a:srgbClr val="424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2413" y="4142482"/>
            <a:ext cx="171599" cy="13729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4371305" y="4115470"/>
            <a:ext cx="4139282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omorro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Designed for NDMA control rooms — live toggles, layered GIS, and role‑based incident triage.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496119" y="393576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400"/>
              <a:buFont typeface="Tomorrow SemiBold"/>
              <a:buNone/>
            </a:pPr>
            <a:r>
              <a:rPr b="0" i="0" lang="en-US" sz="24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Built for India. Designed for Everyone.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496119" y="1052364"/>
            <a:ext cx="248729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Technology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96119" y="1368251"/>
            <a:ext cx="2487290" cy="648593"/>
          </a:xfrm>
          <a:prstGeom prst="roundRect">
            <a:avLst>
              <a:gd fmla="val 2869" name="adj"/>
            </a:avLst>
          </a:prstGeom>
          <a:solidFill>
            <a:srgbClr val="1D1D1B"/>
          </a:solidFill>
          <a:ln cap="flat" cmpd="sng" w="1427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634380" y="1506513"/>
            <a:ext cx="221076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1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AI &amp; ML:</a:t>
            </a: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Deep Learning, LLMs, CV, TensorFlow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96119" y="2125340"/>
            <a:ext cx="2487290" cy="648593"/>
          </a:xfrm>
          <a:prstGeom prst="roundRect">
            <a:avLst>
              <a:gd fmla="val 2869" name="adj"/>
            </a:avLst>
          </a:prstGeom>
          <a:solidFill>
            <a:srgbClr val="1D1D1B"/>
          </a:solidFill>
          <a:ln cap="flat" cmpd="sng" w="1427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634380" y="2263601"/>
            <a:ext cx="221076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1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Data:</a:t>
            </a: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GIS, Remote Sensing, Weather APIs, IoT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96119" y="2882429"/>
            <a:ext cx="2487290" cy="648593"/>
          </a:xfrm>
          <a:prstGeom prst="roundRect">
            <a:avLst>
              <a:gd fmla="val 2869" name="adj"/>
            </a:avLst>
          </a:prstGeom>
          <a:solidFill>
            <a:srgbClr val="1D1D1B"/>
          </a:solidFill>
          <a:ln cap="flat" cmpd="sng" w="1427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634380" y="3020690"/>
            <a:ext cx="221076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1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Backend:</a:t>
            </a: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Cloud, Docker, PostgreSQL, 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96119" y="3639517"/>
            <a:ext cx="2487290" cy="648593"/>
          </a:xfrm>
          <a:prstGeom prst="roundRect">
            <a:avLst>
              <a:gd fmla="val 2869" name="adj"/>
            </a:avLst>
          </a:prstGeom>
          <a:solidFill>
            <a:srgbClr val="1D1D1B"/>
          </a:solidFill>
          <a:ln cap="flat" cmpd="sng" w="1427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634380" y="3777779"/>
            <a:ext cx="2210767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1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Frontend:</a:t>
            </a: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React / Next.js, responsive dashboards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3290739" y="1052364"/>
            <a:ext cx="257189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Accessibility &amp; Inclusion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0739" y="1368251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3290739" y="1813992"/>
            <a:ext cx="257189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1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Offline‑First</a:t>
            </a: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• Feature‑phone &amp; voice support • Regional languages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0739" y="240312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/>
          <p:nvPr/>
        </p:nvSpPr>
        <p:spPr>
          <a:xfrm>
            <a:off x="3290739" y="2848868"/>
            <a:ext cx="2571899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Large‑font voice alerts, simple action prompts for elderly and visually/hearing impaired users.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0739" y="3624039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3290739" y="4069779"/>
            <a:ext cx="2571899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Volunteer network integration &amp; local admin overrides for culturally appropriate messaging.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169968" y="1052364"/>
            <a:ext cx="248729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Impact &amp; Benefits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169968" y="1368251"/>
            <a:ext cx="2487290" cy="922362"/>
          </a:xfrm>
          <a:prstGeom prst="roundRect">
            <a:avLst>
              <a:gd fmla="val 2017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6293941" y="1492225"/>
            <a:ext cx="223934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Government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293941" y="1794570"/>
            <a:ext cx="223934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Faster decisions, data‑driven planning, reduced casualties.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169968" y="2399109"/>
            <a:ext cx="2487290" cy="922362"/>
          </a:xfrm>
          <a:prstGeom prst="roundRect">
            <a:avLst>
              <a:gd fmla="val 2017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6293941" y="2523083"/>
            <a:ext cx="223934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Citizens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6293941" y="2825428"/>
            <a:ext cx="223934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Timely, comprehensible alerts — safe, trusted evacuation guidance.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169968" y="3429967"/>
            <a:ext cx="2487290" cy="922362"/>
          </a:xfrm>
          <a:prstGeom prst="roundRect">
            <a:avLst>
              <a:gd fmla="val 2017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6293941" y="3553941"/>
            <a:ext cx="223934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200"/>
              <a:buFont typeface="Tomorrow SemiBold"/>
              <a:buNone/>
            </a:pPr>
            <a:r>
              <a:rPr b="0" i="0" lang="en-US" sz="1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Responders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293941" y="3856286"/>
            <a:ext cx="2239342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950"/>
              <a:buFont typeface="Tomorrow"/>
              <a:buNone/>
            </a:pPr>
            <a:r>
              <a:rPr b="0" i="0" lang="en-US" sz="9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Live tracking, resource visibility, optimized routing and tasking.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2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5715000" y="0"/>
            <a:ext cx="3429000" cy="514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/>
          <p:nvPr/>
        </p:nvSpPr>
        <p:spPr>
          <a:xfrm>
            <a:off x="496119" y="437555"/>
            <a:ext cx="4722763" cy="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150"/>
              <a:buFont typeface="Tomorrow SemiBold"/>
              <a:buNone/>
            </a:pPr>
            <a:r>
              <a:rPr b="0" i="0" lang="en-US" sz="21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Every Second Matters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496119" y="913433"/>
            <a:ext cx="4722763" cy="315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1" i="0" lang="en-US" sz="8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disasters strike, information saves lives. Communication saves communities. AI saves time.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496119" y="1358726"/>
            <a:ext cx="4722763" cy="955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3000"/>
              <a:buFont typeface="Tomorrow SemiBold"/>
              <a:buNone/>
            </a:pPr>
            <a:r>
              <a:rPr b="0" i="0" lang="en-US" sz="30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No Citizen is Left Uninformed.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496119" y="2521521"/>
            <a:ext cx="2725564" cy="946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0" i="0" lang="en-US" sz="8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We are seeking partnership with NDMA, state governments, ISRO, NDRF, Smart India Hackathon mentors and strategic industry partners for pilot deployment. Ready for programmatic roll‑out: district pilots, state integrations and national scale‑up.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96119" y="3565401"/>
            <a:ext cx="691604" cy="168250"/>
          </a:xfrm>
          <a:prstGeom prst="roundRect">
            <a:avLst>
              <a:gd fmla="val 7899" name="adj"/>
            </a:avLst>
          </a:prstGeom>
          <a:solidFill>
            <a:srgbClr val="2727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562570" y="3598590"/>
            <a:ext cx="1015901" cy="101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650"/>
              <a:buFont typeface="Tomorrow"/>
              <a:buNone/>
            </a:pPr>
            <a:r>
              <a:rPr b="0" i="0" lang="en-US" sz="6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PILOT READY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1243087" y="3565401"/>
            <a:ext cx="1338039" cy="168250"/>
          </a:xfrm>
          <a:prstGeom prst="roundRect">
            <a:avLst>
              <a:gd fmla="val 7899" name="adj"/>
            </a:avLst>
          </a:prstGeom>
          <a:noFill/>
          <a:ln cap="flat" cmpd="sng" w="9525">
            <a:solidFill>
              <a:srgbClr val="E1E1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1309539" y="3598590"/>
            <a:ext cx="1662336" cy="101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1E1DF"/>
              </a:buClr>
              <a:buSzPts val="650"/>
              <a:buFont typeface="Tomorrow"/>
              <a:buNone/>
            </a:pPr>
            <a:r>
              <a:rPr b="0" i="0" lang="en-US" sz="650" u="none" cap="none" strike="noStrike">
                <a:solidFill>
                  <a:srgbClr val="E1E1DF"/>
                </a:solidFill>
                <a:latin typeface="Tomorrow"/>
                <a:ea typeface="Tomorrow"/>
                <a:cs typeface="Tomorrow"/>
                <a:sym typeface="Tomorrow"/>
              </a:rPr>
              <a:t>NDMA / SDMA INTEGRATION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3496568" y="2541017"/>
            <a:ext cx="1727002" cy="1516484"/>
          </a:xfrm>
          <a:prstGeom prst="roundRect">
            <a:avLst>
              <a:gd fmla="val 1096" name="adj"/>
            </a:avLst>
          </a:prstGeom>
          <a:solidFill>
            <a:srgbClr val="1D1D1B"/>
          </a:solidFill>
          <a:ln cap="flat" cmpd="sng" w="1427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3621584" y="2666033"/>
            <a:ext cx="1476970" cy="17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 SemiBold"/>
              <a:buNone/>
            </a:pPr>
            <a:r>
              <a:rPr b="0" i="0" lang="en-US" sz="10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Call to 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3621584" y="2925514"/>
            <a:ext cx="1476970" cy="1006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Char char="•"/>
            </a:pPr>
            <a:r>
              <a:rPr b="0" i="0" lang="en-US" sz="8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Approve pilot in 2 districts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Char char="•"/>
            </a:pPr>
            <a:r>
              <a:rPr b="0" i="0" lang="en-US" sz="8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Data sharing agreement with ISRO &amp; IMD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Char char="•"/>
            </a:pPr>
            <a:r>
              <a:rPr b="0" i="0" lang="en-US" sz="8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Joint technical validation with NIDM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3496568" y="4154835"/>
            <a:ext cx="1727002" cy="473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850"/>
              <a:buFont typeface="Tomorrow"/>
              <a:buNone/>
            </a:pPr>
            <a:r>
              <a:rPr b="0" i="0" lang="en-US" sz="8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Contact: DisasterLink AI — Pilot &amp; Partnership Team • QR / contact on request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